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5" r:id="rId9"/>
    <p:sldId id="266" r:id="rId10"/>
    <p:sldId id="267" r:id="rId11"/>
    <p:sldId id="264" r:id="rId12"/>
    <p:sldId id="262" r:id="rId13"/>
    <p:sldId id="268"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A436B-7E1B-4F13-BCAC-5F39B105B034}" v="67" dt="2025-07-06T13:13:30.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130"/>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DipchandriGhosh/Water_Quality_Prediction-AICTE_Edunet-Shell_Skills4Future/tree/main/AICTE-Edunet-Shell_Skill4Future_Internship_Water_Quality_Prediction"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159026"/>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141647" y="3269974"/>
            <a:ext cx="6870861" cy="646331"/>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Water Quality Prediction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98D51FD6-C7FB-0BA0-A74B-98BAA2583BDB}"/>
              </a:ext>
            </a:extLst>
          </p:cNvPr>
          <p:cNvSpPr txBox="1"/>
          <p:nvPr/>
        </p:nvSpPr>
        <p:spPr>
          <a:xfrm>
            <a:off x="5071659" y="4309934"/>
            <a:ext cx="5851445" cy="1077218"/>
          </a:xfrm>
          <a:prstGeom prst="rect">
            <a:avLst/>
          </a:prstGeom>
          <a:noFill/>
        </p:spPr>
        <p:txBody>
          <a:bodyPr wrap="square" rtlCol="0">
            <a:spAutoFit/>
          </a:bodyPr>
          <a:lstStyle/>
          <a:p>
            <a:r>
              <a:rPr lang="en-IN" sz="1600" b="1" dirty="0">
                <a:solidFill>
                  <a:schemeClr val="bg1"/>
                </a:solidFill>
                <a:latin typeface="+mj-lt"/>
                <a:ea typeface="Calibri" panose="020F0502020204030204" pitchFamily="34" charset="0"/>
                <a:cs typeface="Calibri" panose="020F0502020204030204" pitchFamily="34" charset="0"/>
              </a:rPr>
              <a:t>NAME: Dipchandri Ghosh</a:t>
            </a:r>
          </a:p>
          <a:p>
            <a:endParaRPr lang="en-IN" sz="1600" b="1" dirty="0">
              <a:solidFill>
                <a:schemeClr val="bg1"/>
              </a:solidFill>
              <a:latin typeface="+mj-lt"/>
              <a:ea typeface="Calibri" panose="020F0502020204030204" pitchFamily="34" charset="0"/>
              <a:cs typeface="Calibri" panose="020F0502020204030204" pitchFamily="34" charset="0"/>
            </a:endParaRPr>
          </a:p>
          <a:p>
            <a:r>
              <a:rPr lang="en-US" sz="1600" b="1" dirty="0">
                <a:solidFill>
                  <a:schemeClr val="bg1"/>
                </a:solidFill>
                <a:latin typeface="+mj-lt"/>
              </a:rPr>
              <a:t>STUDENT REGISTRATION ID: STU68249441d8b4d1747227713</a:t>
            </a:r>
            <a:endParaRPr lang="en-IN" sz="1600" b="1" dirty="0">
              <a:solidFill>
                <a:schemeClr val="bg1"/>
              </a:solidFill>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707886"/>
          </a:xfrm>
          <a:prstGeom prst="rect">
            <a:avLst/>
          </a:prstGeom>
          <a:noFill/>
        </p:spPr>
        <p:txBody>
          <a:bodyPr wrap="square">
            <a:spAutoFit/>
          </a:bodyPr>
          <a:lstStyle/>
          <a:p>
            <a:r>
              <a:rPr lang="en-IN" sz="2000" b="1" dirty="0">
                <a:solidFill>
                  <a:srgbClr val="213163"/>
                </a:solidFill>
              </a:rPr>
              <a:t>Learning </a:t>
            </a:r>
            <a:r>
              <a:rPr lang="en-IN" sz="2000" b="1" dirty="0">
                <a:solidFill>
                  <a:srgbClr val="213163"/>
                </a:solidFill>
                <a:latin typeface="Arial Black" panose="020B0A04020102020204" pitchFamily="34" charset="0"/>
              </a:rPr>
              <a:t>Objectives</a:t>
            </a:r>
            <a:endParaRPr lang="en-IN" sz="2000" dirty="0">
              <a:solidFill>
                <a:srgbClr val="213163"/>
              </a:solidFill>
              <a:latin typeface="Arial Black" panose="020B0A04020102020204" pitchFamily="34" charset="0"/>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D41D3EDA-17FB-9849-6A37-324C9F06BA50}"/>
              </a:ext>
            </a:extLst>
          </p:cNvPr>
          <p:cNvSpPr txBox="1"/>
          <p:nvPr/>
        </p:nvSpPr>
        <p:spPr>
          <a:xfrm>
            <a:off x="345440" y="1643697"/>
            <a:ext cx="7153769" cy="4431983"/>
          </a:xfrm>
          <a:prstGeom prst="rect">
            <a:avLst/>
          </a:prstGeom>
          <a:noFill/>
        </p:spPr>
        <p:txBody>
          <a:bodyPr wrap="square" rtlCol="0">
            <a:spAutoFit/>
          </a:bodyPr>
          <a:lstStyle/>
          <a:p>
            <a:pPr marL="228600" indent="-228600">
              <a:buFont typeface="+mj-lt"/>
              <a:buAutoNum type="arabicPeriod"/>
            </a:pPr>
            <a:r>
              <a:rPr lang="en-IN" sz="1500" b="1" dirty="0"/>
              <a:t>Understand Water Pollution Parameters-</a:t>
            </a:r>
            <a:r>
              <a:rPr lang="en-IN" sz="1500" dirty="0"/>
              <a:t> Identify major pollutants (O₂, NO₃, NO₂, SO₄, PO₄, Cl⁻) and their relevance to environmental monitoring.</a:t>
            </a:r>
          </a:p>
          <a:p>
            <a:pPr marL="228600" indent="-228600">
              <a:buFont typeface="+mj-lt"/>
              <a:buAutoNum type="arabicPeriod"/>
            </a:pPr>
            <a:r>
              <a:rPr lang="en-US" sz="1500" b="1" dirty="0"/>
              <a:t>Analyze and Clean Real Data-</a:t>
            </a:r>
            <a:r>
              <a:rPr lang="en-US" sz="1500" dirty="0"/>
              <a:t> Work on historical pollution data (2000-2021) for water quality parameters, identify missing values and perform computer analysis to clean the data.</a:t>
            </a:r>
          </a:p>
          <a:p>
            <a:pPr marL="228600" indent="-228600">
              <a:buFont typeface="+mj-lt"/>
              <a:buAutoNum type="arabicPeriod"/>
            </a:pPr>
            <a:r>
              <a:rPr lang="en-US" sz="1500" b="1" dirty="0"/>
              <a:t>Use Machine Learning Model to make Multi-Output Predictions-</a:t>
            </a:r>
            <a:r>
              <a:rPr lang="en-US" sz="1500" dirty="0"/>
              <a:t> Build a Random Forest (RF) model for multi-output predictions to predict levels of pollutants (O₂, NO₃, NO₂, SO₄, PO₄, Cl⁻).</a:t>
            </a:r>
          </a:p>
          <a:p>
            <a:pPr marL="228600" indent="-228600">
              <a:buFont typeface="+mj-lt"/>
              <a:buAutoNum type="arabicPeriod"/>
            </a:pPr>
            <a:r>
              <a:rPr lang="en-US" sz="1500" b="1" dirty="0"/>
              <a:t>Build Interactive Prediction App-</a:t>
            </a:r>
            <a:r>
              <a:rPr lang="en-US" sz="1500" dirty="0"/>
              <a:t> Create a user-driven </a:t>
            </a:r>
            <a:r>
              <a:rPr lang="en-US" sz="1500" dirty="0" err="1"/>
              <a:t>Streamlit</a:t>
            </a:r>
            <a:r>
              <a:rPr lang="en-US" sz="1500" dirty="0"/>
              <a:t> web application to predict pollutant levels, by year and station ID.</a:t>
            </a:r>
          </a:p>
          <a:p>
            <a:pPr marL="228600" indent="-228600">
              <a:buFont typeface="+mj-lt"/>
              <a:buAutoNum type="arabicPeriod"/>
            </a:pPr>
            <a:r>
              <a:rPr lang="en-US" sz="1500" b="1" dirty="0"/>
              <a:t>Align Input Features with Model Inputs-</a:t>
            </a:r>
            <a:r>
              <a:rPr lang="en-US" sz="1500" dirty="0"/>
              <a:t> Join data utilizing feature alignment and one-hot encoding so the model receives inputs it has been trained to accept.</a:t>
            </a:r>
          </a:p>
          <a:p>
            <a:pPr marL="228600" indent="-228600">
              <a:buFont typeface="+mj-lt"/>
              <a:buAutoNum type="arabicPeriod"/>
            </a:pPr>
            <a:r>
              <a:rPr lang="en-US" sz="1500" b="1" dirty="0"/>
              <a:t>Deploy predictions in real-time-</a:t>
            </a:r>
            <a:r>
              <a:rPr lang="en-US" sz="1500" dirty="0"/>
              <a:t> Create dynamic predictions using a saved `.</a:t>
            </a:r>
            <a:r>
              <a:rPr lang="en-US" sz="1500" dirty="0" err="1"/>
              <a:t>pkl</a:t>
            </a:r>
            <a:r>
              <a:rPr lang="en-US" sz="1500" dirty="0"/>
              <a:t>` model and have the predictions delivered according to user inputs.</a:t>
            </a:r>
          </a:p>
          <a:p>
            <a:pPr marL="228600" indent="-228600">
              <a:buFont typeface="+mj-lt"/>
              <a:buAutoNum type="arabicPeriod"/>
            </a:pPr>
            <a:r>
              <a:rPr lang="en-US" sz="1500" b="1" dirty="0"/>
              <a:t>Practical Experience with ML tools-</a:t>
            </a:r>
            <a:r>
              <a:rPr lang="en-US" sz="1500" dirty="0"/>
              <a:t> Gain practical experience employing Python libraries, like Pandas, Scikit-learn, </a:t>
            </a:r>
            <a:r>
              <a:rPr lang="en-US" sz="1500" dirty="0" err="1"/>
              <a:t>Joblib</a:t>
            </a:r>
            <a:r>
              <a:rPr lang="en-US" sz="1500" dirty="0"/>
              <a:t> and </a:t>
            </a:r>
            <a:r>
              <a:rPr lang="en-US" sz="1500" dirty="0" err="1"/>
              <a:t>Streamlit</a:t>
            </a:r>
            <a:r>
              <a:rPr lang="en-US" sz="1500" dirty="0"/>
              <a:t> throughout a real-world processing pipeline. </a:t>
            </a:r>
          </a:p>
          <a:p>
            <a:pPr marL="228600" indent="-228600">
              <a:buFont typeface="+mj-lt"/>
              <a:buAutoNum type="arabicPeriod"/>
            </a:pPr>
            <a:endParaRPr lang="en-US" sz="1200" dirty="0"/>
          </a:p>
        </p:txBody>
      </p:sp>
      <p:sp>
        <p:nvSpPr>
          <p:cNvPr id="10" name="Rectangle 2">
            <a:extLst>
              <a:ext uri="{FF2B5EF4-FFF2-40B4-BE49-F238E27FC236}">
                <a16:creationId xmlns:a16="http://schemas.microsoft.com/office/drawing/2014/main" id="{2957E23F-B4C7-59CF-B929-88D064738C62}"/>
              </a:ext>
            </a:extLst>
          </p:cNvPr>
          <p:cNvSpPr>
            <a:spLocks noChangeArrowheads="1"/>
          </p:cNvSpPr>
          <p:nvPr/>
        </p:nvSpPr>
        <p:spPr bwMode="auto">
          <a:xfrm>
            <a:off x="0" y="-323171"/>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15" name="Rectangle 12">
            <a:extLst>
              <a:ext uri="{FF2B5EF4-FFF2-40B4-BE49-F238E27FC236}">
                <a16:creationId xmlns:a16="http://schemas.microsoft.com/office/drawing/2014/main" id="{1744C4E5-A0A8-8F33-121A-594107AE9108}"/>
              </a:ext>
            </a:extLst>
          </p:cNvPr>
          <p:cNvSpPr>
            <a:spLocks noChangeArrowheads="1"/>
          </p:cNvSpPr>
          <p:nvPr/>
        </p:nvSpPr>
        <p:spPr bwMode="auto">
          <a:xfrm>
            <a:off x="0" y="275310"/>
            <a:ext cx="251128" cy="379656"/>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16" name="Rectangle 13">
            <a:extLst>
              <a:ext uri="{FF2B5EF4-FFF2-40B4-BE49-F238E27FC236}">
                <a16:creationId xmlns:a16="http://schemas.microsoft.com/office/drawing/2014/main" id="{58BF68AD-DC96-44F1-7DA4-2D37D0C87258}"/>
              </a:ext>
            </a:extLst>
          </p:cNvPr>
          <p:cNvSpPr>
            <a:spLocks noChangeArrowheads="1"/>
          </p:cNvSpPr>
          <p:nvPr/>
        </p:nvSpPr>
        <p:spPr bwMode="auto">
          <a:xfrm>
            <a:off x="251127" y="1540739"/>
            <a:ext cx="8694089"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p>
          <a:p>
            <a:pPr marR="0" lvl="0" algn="l" defTabSz="914400" rtl="0" eaLnBrk="0" fontAlgn="base" latinLnBrk="0" hangingPunct="0">
              <a:lnSpc>
                <a:spcPct val="100000"/>
              </a:lnSpc>
              <a:spcBef>
                <a:spcPct val="0"/>
              </a:spcBef>
              <a:spcAft>
                <a:spcPct val="0"/>
              </a:spcAft>
              <a:buClrTx/>
              <a:buSzTx/>
              <a:tabLst/>
            </a:pPr>
            <a:r>
              <a:rPr lang="en-US" altLang="en-US" sz="1600" b="1" dirty="0"/>
              <a:t>1. Development Environment-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Python 3.x</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Jupyter</a:t>
            </a:r>
            <a:r>
              <a:rPr lang="en-US" altLang="en-US" sz="1600" dirty="0"/>
              <a:t> Notebook</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Streamlit</a:t>
            </a:r>
            <a:endParaRPr lang="en-US" altLang="en-US" sz="1600" dirty="0"/>
          </a:p>
          <a:p>
            <a:pPr marR="0" lvl="0" algn="l" defTabSz="914400" rtl="0" eaLnBrk="0" fontAlgn="base" latinLnBrk="0" hangingPunct="0">
              <a:lnSpc>
                <a:spcPct val="100000"/>
              </a:lnSpc>
              <a:spcBef>
                <a:spcPct val="0"/>
              </a:spcBef>
              <a:spcAft>
                <a:spcPct val="0"/>
              </a:spcAft>
              <a:buClrTx/>
              <a:buSzTx/>
              <a:tabLst/>
            </a:pPr>
            <a:endParaRPr lang="en-US" altLang="en-US" sz="1600" dirty="0"/>
          </a:p>
          <a:p>
            <a:pPr marR="0" lvl="0" algn="l" defTabSz="914400" rtl="0" eaLnBrk="0" fontAlgn="base" latinLnBrk="0" hangingPunct="0">
              <a:lnSpc>
                <a:spcPct val="100000"/>
              </a:lnSpc>
              <a:spcBef>
                <a:spcPct val="0"/>
              </a:spcBef>
              <a:spcAft>
                <a:spcPct val="0"/>
              </a:spcAft>
              <a:buClrTx/>
              <a:buSzTx/>
              <a:tabLst/>
            </a:pPr>
            <a:r>
              <a:rPr lang="en-US" altLang="en-US" sz="1600" b="1" dirty="0"/>
              <a:t>2. Libraries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Scikit-learn – ML model (Random Forest)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Pandas, NumPy – Data handling</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Joblib</a:t>
            </a:r>
            <a:r>
              <a:rPr lang="en-US" altLang="en-US" sz="1600" dirty="0"/>
              <a:t>, Pickle – Model saving/loading</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t>3. Files &amp; Formats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PB_All_2000_2021.csv – Dataset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pollution_model.pkl</a:t>
            </a:r>
            <a:r>
              <a:rPr lang="en-US" altLang="en-US" sz="1600" dirty="0"/>
              <a:t> – Trained model</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model_columns.pkl</a:t>
            </a:r>
            <a:r>
              <a:rPr lang="en-US" altLang="en-US" sz="1600" dirty="0"/>
              <a:t> – Feature structure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app.py – </a:t>
            </a:r>
            <a:r>
              <a:rPr lang="en-US" altLang="en-US" sz="1600" dirty="0" err="1"/>
              <a:t>Streamlit</a:t>
            </a:r>
            <a:r>
              <a:rPr lang="en-US" altLang="en-US" sz="1600" dirty="0"/>
              <a:t> app script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dirty="0"/>
              <a:t> </a:t>
            </a:r>
            <a:r>
              <a:rPr lang="en-US" altLang="en-US" sz="1600" dirty="0" err="1"/>
              <a:t>WaterQualityPred.ipynb</a:t>
            </a:r>
            <a:r>
              <a:rPr lang="en-US" altLang="en-US" sz="1600" dirty="0"/>
              <a:t> – Model notebook</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p>
        </p:txBody>
      </p:sp>
      <p:sp>
        <p:nvSpPr>
          <p:cNvPr id="17" name="Rectangle 14">
            <a:extLst>
              <a:ext uri="{FF2B5EF4-FFF2-40B4-BE49-F238E27FC236}">
                <a16:creationId xmlns:a16="http://schemas.microsoft.com/office/drawing/2014/main" id="{A999AED0-3A27-DD7A-1B8C-5A8CB0FE437F}"/>
              </a:ext>
            </a:extLst>
          </p:cNvPr>
          <p:cNvSpPr>
            <a:spLocks noChangeArrowheads="1"/>
          </p:cNvSpPr>
          <p:nvPr/>
        </p:nvSpPr>
        <p:spPr bwMode="auto">
          <a:xfrm>
            <a:off x="0" y="748385"/>
            <a:ext cx="251128" cy="379656"/>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4A5D1C05-5D1A-5556-6B20-4F6EBFE2FDD4}"/>
              </a:ext>
            </a:extLst>
          </p:cNvPr>
          <p:cNvSpPr txBox="1"/>
          <p:nvPr/>
        </p:nvSpPr>
        <p:spPr>
          <a:xfrm>
            <a:off x="268356" y="1597655"/>
            <a:ext cx="9988827" cy="4524315"/>
          </a:xfrm>
          <a:prstGeom prst="rect">
            <a:avLst/>
          </a:prstGeom>
          <a:noFill/>
        </p:spPr>
        <p:txBody>
          <a:bodyPr wrap="square" rtlCol="0">
            <a:spAutoFit/>
          </a:bodyPr>
          <a:lstStyle/>
          <a:p>
            <a:r>
              <a:rPr lang="en-US" sz="1600" b="1" dirty="0"/>
              <a:t>1. Data collection-</a:t>
            </a:r>
          </a:p>
          <a:p>
            <a:r>
              <a:rPr lang="en-US" sz="1600" dirty="0"/>
              <a:t>    * Consists of a historical water quality dataset (2000-2021).</a:t>
            </a:r>
          </a:p>
          <a:p>
            <a:r>
              <a:rPr lang="en-US" sz="1600" dirty="0"/>
              <a:t>    </a:t>
            </a:r>
          </a:p>
          <a:p>
            <a:r>
              <a:rPr lang="en-US" sz="1600" b="1" dirty="0"/>
              <a:t>2. Data preprocessing</a:t>
            </a:r>
          </a:p>
          <a:p>
            <a:r>
              <a:rPr lang="en-US" sz="1600" dirty="0"/>
              <a:t>    * We handled missing data.</a:t>
            </a:r>
          </a:p>
          <a:p>
            <a:r>
              <a:rPr lang="en-US" sz="1600" dirty="0"/>
              <a:t>    * One-hot encoded the station IDs.</a:t>
            </a:r>
          </a:p>
          <a:p>
            <a:r>
              <a:rPr lang="en-US" sz="1600" dirty="0"/>
              <a:t>    * Aligned our features in accordance with our model requirement.</a:t>
            </a:r>
          </a:p>
          <a:p>
            <a:r>
              <a:rPr lang="en-US" sz="1600" dirty="0"/>
              <a:t>    </a:t>
            </a:r>
          </a:p>
          <a:p>
            <a:r>
              <a:rPr lang="en-US" sz="1600" b="1" dirty="0"/>
              <a:t>3. Model training</a:t>
            </a:r>
          </a:p>
          <a:p>
            <a:r>
              <a:rPr lang="en-US" sz="1600" dirty="0"/>
              <a:t>    * We trained a </a:t>
            </a:r>
            <a:r>
              <a:rPr lang="en-US" sz="1600" b="1" dirty="0"/>
              <a:t>random forest regressor </a:t>
            </a:r>
            <a:r>
              <a:rPr lang="en-US" sz="1600" dirty="0"/>
              <a:t>for a multi-output prediction. </a:t>
            </a:r>
          </a:p>
          <a:p>
            <a:r>
              <a:rPr lang="en-US" sz="1600" dirty="0"/>
              <a:t>    * The target output was the pollutant levels (O₂, NO₃, NO₂, SO₄, PO₄, Cl⁻).</a:t>
            </a:r>
          </a:p>
          <a:p>
            <a:r>
              <a:rPr lang="en-US" sz="1600" dirty="0"/>
              <a:t>    </a:t>
            </a:r>
          </a:p>
          <a:p>
            <a:r>
              <a:rPr lang="en-US" sz="1600" b="1" dirty="0"/>
              <a:t>4. Model saving</a:t>
            </a:r>
          </a:p>
          <a:p>
            <a:r>
              <a:rPr lang="en-US" sz="1600" dirty="0"/>
              <a:t>    * We saved our trained model and feature columns with `</a:t>
            </a:r>
            <a:r>
              <a:rPr lang="en-US" sz="1600" dirty="0" err="1"/>
              <a:t>joblib</a:t>
            </a:r>
            <a:r>
              <a:rPr lang="en-US" sz="1600" dirty="0"/>
              <a:t>`. </a:t>
            </a:r>
          </a:p>
          <a:p>
            <a:r>
              <a:rPr lang="en-US" sz="1600" dirty="0"/>
              <a:t>    </a:t>
            </a:r>
          </a:p>
          <a:p>
            <a:r>
              <a:rPr lang="en-US" sz="1600" b="1" dirty="0"/>
              <a:t>5. Web app development</a:t>
            </a:r>
          </a:p>
          <a:p>
            <a:r>
              <a:rPr lang="en-US" sz="1600" dirty="0"/>
              <a:t>    * Developed an interactive UI with </a:t>
            </a:r>
            <a:r>
              <a:rPr lang="en-US" sz="1600" b="1" dirty="0" err="1"/>
              <a:t>Streamlit</a:t>
            </a:r>
            <a:endParaRPr lang="en-US" sz="1600" b="1" dirty="0"/>
          </a:p>
          <a:p>
            <a:r>
              <a:rPr lang="en-US" sz="1600" dirty="0"/>
              <a:t>    * We collected the user input (year + station ID) and returned predicted pollutant levels.</a:t>
            </a:r>
            <a:endParaRPr lang="en-IN" sz="1600" dirty="0"/>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F31DFF3A-202F-60CE-C881-39766B0A65DC}"/>
              </a:ext>
            </a:extLst>
          </p:cNvPr>
          <p:cNvSpPr txBox="1"/>
          <p:nvPr/>
        </p:nvSpPr>
        <p:spPr>
          <a:xfrm>
            <a:off x="255104" y="1878496"/>
            <a:ext cx="10469218" cy="2308324"/>
          </a:xfrm>
          <a:prstGeom prst="rect">
            <a:avLst/>
          </a:prstGeom>
          <a:noFill/>
        </p:spPr>
        <p:txBody>
          <a:bodyPr wrap="square" rtlCol="0">
            <a:spAutoFit/>
          </a:bodyPr>
          <a:lstStyle/>
          <a:p>
            <a:r>
              <a:rPr lang="en-US" sz="1800" dirty="0"/>
              <a:t>The access to purified water is vital for human life and the preservation of the planet. Monitoring the quality of water at every location and time is not easy due to :</a:t>
            </a:r>
          </a:p>
          <a:p>
            <a:endParaRPr lang="en-US" sz="1800" dirty="0"/>
          </a:p>
          <a:p>
            <a:pPr marL="342900" indent="-342900">
              <a:buFont typeface="Arial" panose="020B0604020202020204" pitchFamily="34" charset="0"/>
              <a:buChar char="•"/>
            </a:pPr>
            <a:r>
              <a:rPr lang="en-US" sz="1800" dirty="0"/>
              <a:t>Limited manual monitoring capacity</a:t>
            </a:r>
          </a:p>
          <a:p>
            <a:endParaRPr lang="en-US" sz="1800" dirty="0"/>
          </a:p>
          <a:p>
            <a:pPr marL="342900" indent="-342900">
              <a:buFont typeface="Arial" panose="020B0604020202020204" pitchFamily="34" charset="0"/>
              <a:buChar char="•"/>
            </a:pPr>
            <a:r>
              <a:rPr lang="en-US" sz="1800" dirty="0"/>
              <a:t>Difficulties in acquiring pertinent pollutant information in real time</a:t>
            </a:r>
          </a:p>
          <a:p>
            <a:endParaRPr lang="en-US" sz="1800" dirty="0"/>
          </a:p>
          <a:p>
            <a:pPr marL="342900" indent="-342900">
              <a:buFont typeface="Arial" panose="020B0604020202020204" pitchFamily="34" charset="0"/>
              <a:buChar char="•"/>
            </a:pPr>
            <a:r>
              <a:rPr lang="en-US" sz="1800" dirty="0"/>
              <a:t>Current absence of predictive tools for future water quality</a:t>
            </a:r>
            <a:endParaRPr lang="en-IN" sz="1800"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E1004D75-5296-B31D-325D-B155622C1627}"/>
              </a:ext>
            </a:extLst>
          </p:cNvPr>
          <p:cNvSpPr txBox="1"/>
          <p:nvPr/>
        </p:nvSpPr>
        <p:spPr>
          <a:xfrm>
            <a:off x="387626" y="1828800"/>
            <a:ext cx="10674626" cy="3827523"/>
          </a:xfrm>
          <a:prstGeom prst="rect">
            <a:avLst/>
          </a:prstGeom>
          <a:noFill/>
        </p:spPr>
        <p:txBody>
          <a:bodyPr wrap="square" rtlCol="0">
            <a:spAutoFit/>
          </a:bodyPr>
          <a:lstStyle/>
          <a:p>
            <a:r>
              <a:rPr lang="en-US" sz="1800" dirty="0"/>
              <a:t>We created a </a:t>
            </a:r>
            <a:r>
              <a:rPr lang="en-US" sz="1800" b="1" dirty="0"/>
              <a:t>machine learning-based prediction system </a:t>
            </a:r>
            <a:r>
              <a:rPr lang="en-US" sz="1800" dirty="0"/>
              <a:t>that estimates water pollutant levels arising from historical data.</a:t>
            </a:r>
          </a:p>
          <a:p>
            <a:endParaRPr lang="en-US" sz="1800" dirty="0"/>
          </a:p>
          <a:p>
            <a:r>
              <a:rPr lang="en-US" sz="1800" b="1" dirty="0"/>
              <a:t>Solution Features</a:t>
            </a:r>
          </a:p>
          <a:p>
            <a:pPr marL="342900" indent="-342900">
              <a:buFont typeface="Arial" panose="020B0604020202020204" pitchFamily="34" charset="0"/>
              <a:buChar char="•"/>
            </a:pPr>
            <a:r>
              <a:rPr lang="en-US" sz="1800" b="1" dirty="0"/>
              <a:t>Random Forest Regressor </a:t>
            </a:r>
            <a:r>
              <a:rPr lang="en-US" sz="1800" dirty="0"/>
              <a:t>trained on historical data to predict at least six pollutants:  O₂, NO₃, NO₂, SO₄, PO₄, Cl⁻ </a:t>
            </a:r>
          </a:p>
          <a:p>
            <a:pPr marL="342900" indent="-342900">
              <a:buFont typeface="Arial" panose="020B0604020202020204" pitchFamily="34" charset="0"/>
              <a:buChar char="•"/>
            </a:pPr>
            <a:r>
              <a:rPr lang="en-US" sz="1800" b="1" dirty="0"/>
              <a:t>Input: </a:t>
            </a:r>
            <a:r>
              <a:rPr lang="en-US" sz="1800" dirty="0"/>
              <a:t>Year and Station ID </a:t>
            </a:r>
          </a:p>
          <a:p>
            <a:pPr marL="342900" indent="-342900">
              <a:buFont typeface="Arial" panose="020B0604020202020204" pitchFamily="34" charset="0"/>
              <a:buChar char="•"/>
            </a:pPr>
            <a:r>
              <a:rPr lang="en-US" sz="1800" b="1" dirty="0"/>
              <a:t>Output: </a:t>
            </a:r>
            <a:r>
              <a:rPr lang="en-US" sz="1800" dirty="0"/>
              <a:t>Predicted concentration levels of pollutants</a:t>
            </a:r>
          </a:p>
          <a:p>
            <a:pPr marL="342900" indent="-342900">
              <a:buFont typeface="Arial" panose="020B0604020202020204" pitchFamily="34" charset="0"/>
              <a:buChar char="•"/>
            </a:pPr>
            <a:endParaRPr lang="en-US" sz="1800" dirty="0"/>
          </a:p>
          <a:p>
            <a:r>
              <a:rPr lang="en-US" sz="1800" b="1" dirty="0"/>
              <a:t>Interactive Web Application</a:t>
            </a:r>
          </a:p>
          <a:p>
            <a:pPr marL="342900" indent="-342900">
              <a:buFont typeface="Arial" panose="020B0604020202020204" pitchFamily="34" charset="0"/>
              <a:buChar char="•"/>
            </a:pPr>
            <a:r>
              <a:rPr lang="en-US" sz="1800" dirty="0"/>
              <a:t> Built with </a:t>
            </a:r>
            <a:r>
              <a:rPr lang="en-US" sz="1800" b="1" dirty="0" err="1"/>
              <a:t>Streamlit</a:t>
            </a:r>
            <a:r>
              <a:rPr lang="en-US" sz="1800" dirty="0"/>
              <a:t> </a:t>
            </a:r>
          </a:p>
          <a:p>
            <a:pPr marL="342900" indent="-342900">
              <a:buFont typeface="Arial" panose="020B0604020202020204" pitchFamily="34" charset="0"/>
              <a:buChar char="•"/>
            </a:pPr>
            <a:r>
              <a:rPr lang="en-US" sz="1800" dirty="0"/>
              <a:t> Easy-to-use interface with opportunity to make predictions in real-time </a:t>
            </a:r>
          </a:p>
          <a:p>
            <a:pPr marL="342900" indent="-342900">
              <a:buFont typeface="Arial" panose="020B0604020202020204" pitchFamily="34" charset="0"/>
              <a:buChar char="•"/>
            </a:pPr>
            <a:r>
              <a:rPr lang="en-US" sz="1800" dirty="0"/>
              <a:t> Allows user to add input and display pollutant levels in an instant</a:t>
            </a:r>
            <a:endParaRPr lang="en-IN" sz="1800" dirty="0"/>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5" name="TextBox 4">
            <a:extLst>
              <a:ext uri="{FF2B5EF4-FFF2-40B4-BE49-F238E27FC236}">
                <a16:creationId xmlns:a16="http://schemas.microsoft.com/office/drawing/2014/main" id="{0E471EAC-3EC0-243A-735F-C791C1F49A6A}"/>
              </a:ext>
            </a:extLst>
          </p:cNvPr>
          <p:cNvSpPr txBox="1"/>
          <p:nvPr/>
        </p:nvSpPr>
        <p:spPr>
          <a:xfrm>
            <a:off x="258420" y="1454522"/>
            <a:ext cx="9382539" cy="379656"/>
          </a:xfrm>
          <a:prstGeom prst="rect">
            <a:avLst/>
          </a:prstGeom>
          <a:noFill/>
        </p:spPr>
        <p:txBody>
          <a:bodyPr wrap="square" rtlCol="0">
            <a:spAutoFit/>
          </a:bodyPr>
          <a:lstStyle/>
          <a:p>
            <a:r>
              <a:rPr lang="en-IN" sz="1400" b="1" dirty="0"/>
              <a:t>Source Code</a:t>
            </a:r>
            <a:r>
              <a:rPr lang="en-IN" b="1" dirty="0"/>
              <a:t>:</a:t>
            </a:r>
          </a:p>
        </p:txBody>
      </p:sp>
      <p:pic>
        <p:nvPicPr>
          <p:cNvPr id="18" name="Picture 17">
            <a:extLst>
              <a:ext uri="{FF2B5EF4-FFF2-40B4-BE49-F238E27FC236}">
                <a16:creationId xmlns:a16="http://schemas.microsoft.com/office/drawing/2014/main" id="{B131E808-BB12-8828-E1D9-E4BFF1D85F6A}"/>
              </a:ext>
            </a:extLst>
          </p:cNvPr>
          <p:cNvPicPr>
            <a:picLocks noChangeAspect="1"/>
          </p:cNvPicPr>
          <p:nvPr/>
        </p:nvPicPr>
        <p:blipFill>
          <a:blip r:embed="rId2"/>
          <a:stretch>
            <a:fillRect/>
          </a:stretch>
        </p:blipFill>
        <p:spPr>
          <a:xfrm>
            <a:off x="593035" y="1854632"/>
            <a:ext cx="4515682" cy="4267113"/>
          </a:xfrm>
          <a:prstGeom prst="rect">
            <a:avLst/>
          </a:prstGeom>
        </p:spPr>
      </p:pic>
      <p:pic>
        <p:nvPicPr>
          <p:cNvPr id="20" name="Picture 19">
            <a:extLst>
              <a:ext uri="{FF2B5EF4-FFF2-40B4-BE49-F238E27FC236}">
                <a16:creationId xmlns:a16="http://schemas.microsoft.com/office/drawing/2014/main" id="{B0D6236E-4F62-A092-4946-DD9B65133BDF}"/>
              </a:ext>
            </a:extLst>
          </p:cNvPr>
          <p:cNvPicPr>
            <a:picLocks noChangeAspect="1"/>
          </p:cNvPicPr>
          <p:nvPr/>
        </p:nvPicPr>
        <p:blipFill>
          <a:blip r:embed="rId3"/>
          <a:stretch>
            <a:fillRect/>
          </a:stretch>
        </p:blipFill>
        <p:spPr>
          <a:xfrm>
            <a:off x="6096000" y="1854631"/>
            <a:ext cx="4632456" cy="4267113"/>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935FC-DA29-EE08-0CB6-27F7499CDA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2C023F-102B-138C-7CD3-AAA8D836AF66}"/>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5" name="TextBox 4">
            <a:extLst>
              <a:ext uri="{FF2B5EF4-FFF2-40B4-BE49-F238E27FC236}">
                <a16:creationId xmlns:a16="http://schemas.microsoft.com/office/drawing/2014/main" id="{6273C544-8B0D-5529-F377-7729B6C09091}"/>
              </a:ext>
            </a:extLst>
          </p:cNvPr>
          <p:cNvSpPr txBox="1"/>
          <p:nvPr/>
        </p:nvSpPr>
        <p:spPr>
          <a:xfrm>
            <a:off x="255104" y="1454521"/>
            <a:ext cx="9382539" cy="379656"/>
          </a:xfrm>
          <a:prstGeom prst="rect">
            <a:avLst/>
          </a:prstGeom>
          <a:noFill/>
        </p:spPr>
        <p:txBody>
          <a:bodyPr wrap="square" rtlCol="0">
            <a:spAutoFit/>
          </a:bodyPr>
          <a:lstStyle/>
          <a:p>
            <a:r>
              <a:rPr lang="en-IN" sz="1400" b="1" dirty="0"/>
              <a:t>Source Code</a:t>
            </a:r>
            <a:r>
              <a:rPr lang="en-IN" b="1" dirty="0"/>
              <a:t>:</a:t>
            </a:r>
          </a:p>
        </p:txBody>
      </p:sp>
      <p:pic>
        <p:nvPicPr>
          <p:cNvPr id="19" name="Picture 18">
            <a:extLst>
              <a:ext uri="{FF2B5EF4-FFF2-40B4-BE49-F238E27FC236}">
                <a16:creationId xmlns:a16="http://schemas.microsoft.com/office/drawing/2014/main" id="{137442EC-60A5-94E0-136A-1BD906E3A50B}"/>
              </a:ext>
            </a:extLst>
          </p:cNvPr>
          <p:cNvPicPr>
            <a:picLocks noChangeAspect="1"/>
          </p:cNvPicPr>
          <p:nvPr/>
        </p:nvPicPr>
        <p:blipFill>
          <a:blip r:embed="rId2"/>
          <a:stretch>
            <a:fillRect/>
          </a:stretch>
        </p:blipFill>
        <p:spPr>
          <a:xfrm>
            <a:off x="255104" y="1834178"/>
            <a:ext cx="3854056" cy="4506929"/>
          </a:xfrm>
          <a:prstGeom prst="rect">
            <a:avLst/>
          </a:prstGeom>
        </p:spPr>
      </p:pic>
      <p:pic>
        <p:nvPicPr>
          <p:cNvPr id="21" name="Picture 20">
            <a:extLst>
              <a:ext uri="{FF2B5EF4-FFF2-40B4-BE49-F238E27FC236}">
                <a16:creationId xmlns:a16="http://schemas.microsoft.com/office/drawing/2014/main" id="{CDC26E11-6121-F165-7769-D5CA8E8140D7}"/>
              </a:ext>
            </a:extLst>
          </p:cNvPr>
          <p:cNvPicPr>
            <a:picLocks noChangeAspect="1"/>
          </p:cNvPicPr>
          <p:nvPr/>
        </p:nvPicPr>
        <p:blipFill>
          <a:blip r:embed="rId3"/>
          <a:stretch>
            <a:fillRect/>
          </a:stretch>
        </p:blipFill>
        <p:spPr>
          <a:xfrm>
            <a:off x="4381915" y="1834177"/>
            <a:ext cx="3428170" cy="4485141"/>
          </a:xfrm>
          <a:prstGeom prst="rect">
            <a:avLst/>
          </a:prstGeom>
        </p:spPr>
      </p:pic>
      <p:pic>
        <p:nvPicPr>
          <p:cNvPr id="23" name="Picture 22">
            <a:extLst>
              <a:ext uri="{FF2B5EF4-FFF2-40B4-BE49-F238E27FC236}">
                <a16:creationId xmlns:a16="http://schemas.microsoft.com/office/drawing/2014/main" id="{345AC4C5-7482-3C8C-CB6A-150A92A24F8C}"/>
              </a:ext>
            </a:extLst>
          </p:cNvPr>
          <p:cNvPicPr>
            <a:picLocks noChangeAspect="1"/>
          </p:cNvPicPr>
          <p:nvPr/>
        </p:nvPicPr>
        <p:blipFill>
          <a:blip r:embed="rId4"/>
          <a:stretch>
            <a:fillRect/>
          </a:stretch>
        </p:blipFill>
        <p:spPr>
          <a:xfrm>
            <a:off x="8133265" y="1834177"/>
            <a:ext cx="3803631" cy="4485140"/>
          </a:xfrm>
          <a:prstGeom prst="rect">
            <a:avLst/>
          </a:prstGeom>
        </p:spPr>
      </p:pic>
    </p:spTree>
    <p:extLst>
      <p:ext uri="{BB962C8B-B14F-4D97-AF65-F5344CB8AC3E}">
        <p14:creationId xmlns:p14="http://schemas.microsoft.com/office/powerpoint/2010/main" val="423940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10673-1C66-F61B-1CFD-6FC77D2DD1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C4041E-C464-FF13-D710-477A97727590}"/>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5" name="TextBox 4">
            <a:extLst>
              <a:ext uri="{FF2B5EF4-FFF2-40B4-BE49-F238E27FC236}">
                <a16:creationId xmlns:a16="http://schemas.microsoft.com/office/drawing/2014/main" id="{D79B7B40-FD42-F139-D8D5-BD0B5291C2B0}"/>
              </a:ext>
            </a:extLst>
          </p:cNvPr>
          <p:cNvSpPr txBox="1"/>
          <p:nvPr/>
        </p:nvSpPr>
        <p:spPr>
          <a:xfrm>
            <a:off x="434008" y="1454522"/>
            <a:ext cx="9382539" cy="379656"/>
          </a:xfrm>
          <a:prstGeom prst="rect">
            <a:avLst/>
          </a:prstGeom>
          <a:noFill/>
        </p:spPr>
        <p:txBody>
          <a:bodyPr wrap="square" rtlCol="0">
            <a:spAutoFit/>
          </a:bodyPr>
          <a:lstStyle/>
          <a:p>
            <a:r>
              <a:rPr lang="en-IN" sz="1400" b="1" dirty="0"/>
              <a:t>Source Code</a:t>
            </a:r>
            <a:r>
              <a:rPr lang="en-IN" b="1" dirty="0"/>
              <a:t>:</a:t>
            </a:r>
          </a:p>
        </p:txBody>
      </p:sp>
      <p:pic>
        <p:nvPicPr>
          <p:cNvPr id="4" name="Picture 3">
            <a:extLst>
              <a:ext uri="{FF2B5EF4-FFF2-40B4-BE49-F238E27FC236}">
                <a16:creationId xmlns:a16="http://schemas.microsoft.com/office/drawing/2014/main" id="{7E4A1838-A29B-CE2C-1A43-446F73EA97D9}"/>
              </a:ext>
            </a:extLst>
          </p:cNvPr>
          <p:cNvPicPr>
            <a:picLocks noChangeAspect="1"/>
          </p:cNvPicPr>
          <p:nvPr/>
        </p:nvPicPr>
        <p:blipFill>
          <a:blip r:embed="rId2"/>
          <a:stretch>
            <a:fillRect/>
          </a:stretch>
        </p:blipFill>
        <p:spPr>
          <a:xfrm>
            <a:off x="326573" y="1958008"/>
            <a:ext cx="3360845" cy="4400748"/>
          </a:xfrm>
          <a:prstGeom prst="rect">
            <a:avLst/>
          </a:prstGeom>
        </p:spPr>
      </p:pic>
      <p:pic>
        <p:nvPicPr>
          <p:cNvPr id="7" name="Picture 6">
            <a:extLst>
              <a:ext uri="{FF2B5EF4-FFF2-40B4-BE49-F238E27FC236}">
                <a16:creationId xmlns:a16="http://schemas.microsoft.com/office/drawing/2014/main" id="{07093A31-E2E9-394A-B29A-A83590E4903E}"/>
              </a:ext>
            </a:extLst>
          </p:cNvPr>
          <p:cNvPicPr>
            <a:picLocks noChangeAspect="1"/>
          </p:cNvPicPr>
          <p:nvPr/>
        </p:nvPicPr>
        <p:blipFill>
          <a:blip r:embed="rId3"/>
          <a:stretch>
            <a:fillRect/>
          </a:stretch>
        </p:blipFill>
        <p:spPr>
          <a:xfrm>
            <a:off x="4124739" y="1963389"/>
            <a:ext cx="3250096" cy="4395367"/>
          </a:xfrm>
          <a:prstGeom prst="rect">
            <a:avLst/>
          </a:prstGeom>
        </p:spPr>
      </p:pic>
      <p:pic>
        <p:nvPicPr>
          <p:cNvPr id="9" name="Picture 8">
            <a:extLst>
              <a:ext uri="{FF2B5EF4-FFF2-40B4-BE49-F238E27FC236}">
                <a16:creationId xmlns:a16="http://schemas.microsoft.com/office/drawing/2014/main" id="{C854ED94-6367-799F-62B8-AE262220B9DC}"/>
              </a:ext>
            </a:extLst>
          </p:cNvPr>
          <p:cNvPicPr>
            <a:picLocks noChangeAspect="1"/>
          </p:cNvPicPr>
          <p:nvPr/>
        </p:nvPicPr>
        <p:blipFill>
          <a:blip r:embed="rId4"/>
          <a:stretch>
            <a:fillRect/>
          </a:stretch>
        </p:blipFill>
        <p:spPr>
          <a:xfrm>
            <a:off x="7811132" y="1958008"/>
            <a:ext cx="3946860" cy="4400748"/>
          </a:xfrm>
          <a:prstGeom prst="rect">
            <a:avLst/>
          </a:prstGeom>
        </p:spPr>
      </p:pic>
    </p:spTree>
    <p:extLst>
      <p:ext uri="{BB962C8B-B14F-4D97-AF65-F5344CB8AC3E}">
        <p14:creationId xmlns:p14="http://schemas.microsoft.com/office/powerpoint/2010/main" val="3991112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0557E-FB60-87AE-BDF2-7B979F2DC6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47AF58-BE1B-5A7A-76EC-AC84A50FFBCD}"/>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sp>
        <p:nvSpPr>
          <p:cNvPr id="5" name="TextBox 4">
            <a:extLst>
              <a:ext uri="{FF2B5EF4-FFF2-40B4-BE49-F238E27FC236}">
                <a16:creationId xmlns:a16="http://schemas.microsoft.com/office/drawing/2014/main" id="{71F9B361-720C-EA1B-97CF-7FCBD3FD8E63}"/>
              </a:ext>
            </a:extLst>
          </p:cNvPr>
          <p:cNvSpPr txBox="1"/>
          <p:nvPr/>
        </p:nvSpPr>
        <p:spPr>
          <a:xfrm>
            <a:off x="255104" y="1454522"/>
            <a:ext cx="9382539" cy="379656"/>
          </a:xfrm>
          <a:prstGeom prst="rect">
            <a:avLst/>
          </a:prstGeom>
          <a:noFill/>
        </p:spPr>
        <p:txBody>
          <a:bodyPr wrap="square" rtlCol="0">
            <a:spAutoFit/>
          </a:bodyPr>
          <a:lstStyle/>
          <a:p>
            <a:r>
              <a:rPr lang="en-IN" sz="1400" b="1" dirty="0"/>
              <a:t>Deployment Code</a:t>
            </a:r>
            <a:r>
              <a:rPr lang="en-IN" b="1" dirty="0"/>
              <a:t>:</a:t>
            </a:r>
          </a:p>
        </p:txBody>
      </p:sp>
      <p:pic>
        <p:nvPicPr>
          <p:cNvPr id="6" name="Picture 5">
            <a:extLst>
              <a:ext uri="{FF2B5EF4-FFF2-40B4-BE49-F238E27FC236}">
                <a16:creationId xmlns:a16="http://schemas.microsoft.com/office/drawing/2014/main" id="{FC921E73-0913-F595-23AF-9DE0EF8B7EDF}"/>
              </a:ext>
            </a:extLst>
          </p:cNvPr>
          <p:cNvPicPr>
            <a:picLocks noChangeAspect="1"/>
          </p:cNvPicPr>
          <p:nvPr/>
        </p:nvPicPr>
        <p:blipFill>
          <a:blip r:embed="rId2"/>
          <a:stretch>
            <a:fillRect/>
          </a:stretch>
        </p:blipFill>
        <p:spPr>
          <a:xfrm>
            <a:off x="503947" y="1963387"/>
            <a:ext cx="6155269" cy="4536805"/>
          </a:xfrm>
          <a:prstGeom prst="rect">
            <a:avLst/>
          </a:prstGeom>
        </p:spPr>
      </p:pic>
    </p:spTree>
    <p:extLst>
      <p:ext uri="{BB962C8B-B14F-4D97-AF65-F5344CB8AC3E}">
        <p14:creationId xmlns:p14="http://schemas.microsoft.com/office/powerpoint/2010/main" val="1298206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84854-6D50-564D-5B37-4EC803507A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7DA81BA-3385-0449-0B42-F719EA456440}"/>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descr="A screenshot of a computer&#10;&#10;AI-generated content may be incorrect.">
            <a:extLst>
              <a:ext uri="{FF2B5EF4-FFF2-40B4-BE49-F238E27FC236}">
                <a16:creationId xmlns:a16="http://schemas.microsoft.com/office/drawing/2014/main" id="{C8E90E0D-FF46-BF70-76EC-48D1FF3C2027}"/>
              </a:ext>
            </a:extLst>
          </p:cNvPr>
          <p:cNvPicPr>
            <a:picLocks noChangeAspect="1"/>
          </p:cNvPicPr>
          <p:nvPr/>
        </p:nvPicPr>
        <p:blipFill>
          <a:blip r:embed="rId2"/>
          <a:stretch>
            <a:fillRect/>
          </a:stretch>
        </p:blipFill>
        <p:spPr>
          <a:xfrm>
            <a:off x="427384" y="1901783"/>
            <a:ext cx="8676860" cy="4779588"/>
          </a:xfrm>
          <a:prstGeom prst="rect">
            <a:avLst/>
          </a:prstGeom>
        </p:spPr>
      </p:pic>
      <p:sp>
        <p:nvSpPr>
          <p:cNvPr id="2" name="TextBox 1">
            <a:extLst>
              <a:ext uri="{FF2B5EF4-FFF2-40B4-BE49-F238E27FC236}">
                <a16:creationId xmlns:a16="http://schemas.microsoft.com/office/drawing/2014/main" id="{CA41C702-693F-0CE8-FDC7-9A1EFD257D62}"/>
              </a:ext>
            </a:extLst>
          </p:cNvPr>
          <p:cNvSpPr txBox="1"/>
          <p:nvPr/>
        </p:nvSpPr>
        <p:spPr>
          <a:xfrm>
            <a:off x="255104" y="1454522"/>
            <a:ext cx="3800061" cy="338554"/>
          </a:xfrm>
          <a:prstGeom prst="rect">
            <a:avLst/>
          </a:prstGeom>
          <a:noFill/>
        </p:spPr>
        <p:txBody>
          <a:bodyPr wrap="square" rtlCol="0">
            <a:spAutoFit/>
          </a:bodyPr>
          <a:lstStyle/>
          <a:p>
            <a:r>
              <a:rPr lang="en-IN" sz="1600" b="1" dirty="0" err="1"/>
              <a:t>Streamlit</a:t>
            </a:r>
            <a:r>
              <a:rPr lang="en-IN" sz="1600" b="1" dirty="0"/>
              <a:t> Application Output:</a:t>
            </a:r>
          </a:p>
        </p:txBody>
      </p:sp>
    </p:spTree>
    <p:extLst>
      <p:ext uri="{BB962C8B-B14F-4D97-AF65-F5344CB8AC3E}">
        <p14:creationId xmlns:p14="http://schemas.microsoft.com/office/powerpoint/2010/main" val="3009881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400728E1-3E69-CA11-3411-30CFBF99BA9C}"/>
              </a:ext>
            </a:extLst>
          </p:cNvPr>
          <p:cNvSpPr txBox="1"/>
          <p:nvPr/>
        </p:nvSpPr>
        <p:spPr>
          <a:xfrm>
            <a:off x="248478" y="1630017"/>
            <a:ext cx="11787809" cy="1077218"/>
          </a:xfrm>
          <a:prstGeom prst="rect">
            <a:avLst/>
          </a:prstGeom>
          <a:noFill/>
        </p:spPr>
        <p:txBody>
          <a:bodyPr wrap="square" rtlCol="0">
            <a:spAutoFit/>
          </a:bodyPr>
          <a:lstStyle/>
          <a:p>
            <a:pPr marL="457200" indent="-457200">
              <a:buFont typeface="Arial" panose="020B0604020202020204" pitchFamily="34" charset="0"/>
              <a:buChar char="•"/>
            </a:pPr>
            <a:r>
              <a:rPr lang="en-US" sz="1600" dirty="0"/>
              <a:t>Developed machine learning model (Random Forest) to predict key water contaminants.</a:t>
            </a:r>
          </a:p>
          <a:p>
            <a:pPr marL="457200" indent="-457200">
              <a:buFont typeface="Arial" panose="020B0604020202020204" pitchFamily="34" charset="0"/>
              <a:buChar char="•"/>
            </a:pPr>
            <a:r>
              <a:rPr lang="en-US" sz="1600" dirty="0"/>
              <a:t>Predicted 6 contaminants using year and station ID.</a:t>
            </a:r>
          </a:p>
          <a:p>
            <a:pPr marL="457200" indent="-457200">
              <a:buFont typeface="Arial" panose="020B0604020202020204" pitchFamily="34" charset="0"/>
              <a:buChar char="•"/>
            </a:pPr>
            <a:r>
              <a:rPr lang="en-US" sz="1600" dirty="0"/>
              <a:t>Made a user-friendly web app using </a:t>
            </a:r>
            <a:r>
              <a:rPr lang="en-US" sz="1600" b="1" dirty="0" err="1"/>
              <a:t>Streamlit</a:t>
            </a:r>
            <a:r>
              <a:rPr lang="en-US" sz="1600" b="1" dirty="0"/>
              <a:t>.</a:t>
            </a:r>
          </a:p>
          <a:p>
            <a:pPr marL="457200" indent="-457200">
              <a:buFont typeface="Arial" panose="020B0604020202020204" pitchFamily="34" charset="0"/>
              <a:buChar char="•"/>
            </a:pPr>
            <a:r>
              <a:rPr lang="en-US" sz="1600" dirty="0"/>
              <a:t>Use this program to monitor water quality quicker with data driven decisions.</a:t>
            </a:r>
            <a:endParaRPr lang="en-IN" sz="1600" dirty="0"/>
          </a:p>
        </p:txBody>
      </p:sp>
      <p:sp>
        <p:nvSpPr>
          <p:cNvPr id="4" name="TextBox 3">
            <a:extLst>
              <a:ext uri="{FF2B5EF4-FFF2-40B4-BE49-F238E27FC236}">
                <a16:creationId xmlns:a16="http://schemas.microsoft.com/office/drawing/2014/main" id="{0837EE74-EDF9-D592-259A-AE8D24953E98}"/>
              </a:ext>
            </a:extLst>
          </p:cNvPr>
          <p:cNvSpPr txBox="1"/>
          <p:nvPr/>
        </p:nvSpPr>
        <p:spPr>
          <a:xfrm>
            <a:off x="149087" y="2955355"/>
            <a:ext cx="8408505" cy="400110"/>
          </a:xfrm>
          <a:prstGeom prst="rect">
            <a:avLst/>
          </a:prstGeom>
          <a:noFill/>
        </p:spPr>
        <p:txBody>
          <a:bodyPr wrap="square" rtlCol="0">
            <a:spAutoFit/>
          </a:bodyPr>
          <a:lstStyle/>
          <a:p>
            <a:r>
              <a:rPr lang="en-IN" sz="2000" b="1" dirty="0">
                <a:solidFill>
                  <a:srgbClr val="002060"/>
                </a:solidFill>
              </a:rPr>
              <a:t>Future Scope:</a:t>
            </a:r>
          </a:p>
        </p:txBody>
      </p:sp>
      <p:sp>
        <p:nvSpPr>
          <p:cNvPr id="5" name="TextBox 4">
            <a:extLst>
              <a:ext uri="{FF2B5EF4-FFF2-40B4-BE49-F238E27FC236}">
                <a16:creationId xmlns:a16="http://schemas.microsoft.com/office/drawing/2014/main" id="{2BAF470E-5E7C-E33A-1202-627128F15799}"/>
              </a:ext>
            </a:extLst>
          </p:cNvPr>
          <p:cNvSpPr txBox="1"/>
          <p:nvPr/>
        </p:nvSpPr>
        <p:spPr>
          <a:xfrm>
            <a:off x="149087" y="3637197"/>
            <a:ext cx="9819861" cy="1323439"/>
          </a:xfrm>
          <a:prstGeom prst="rect">
            <a:avLst/>
          </a:prstGeom>
          <a:noFill/>
        </p:spPr>
        <p:txBody>
          <a:bodyPr wrap="square" rtlCol="0">
            <a:spAutoFit/>
          </a:bodyPr>
          <a:lstStyle/>
          <a:p>
            <a:pPr marL="342900" indent="-342900">
              <a:buFont typeface="Arial" panose="020B0604020202020204" pitchFamily="34" charset="0"/>
              <a:buChar char="•"/>
            </a:pPr>
            <a:r>
              <a:rPr lang="en-US" sz="1600" dirty="0"/>
              <a:t>Increase the number of </a:t>
            </a:r>
            <a:r>
              <a:rPr lang="en-US" sz="1600" b="1" dirty="0"/>
              <a:t>input features</a:t>
            </a:r>
            <a:r>
              <a:rPr lang="en-US" sz="1600" dirty="0"/>
              <a:t>, such as temperature, rainfall, land use data.</a:t>
            </a:r>
          </a:p>
          <a:p>
            <a:pPr marL="342900" indent="-342900">
              <a:buFont typeface="Arial" panose="020B0604020202020204" pitchFamily="34" charset="0"/>
              <a:buChar char="•"/>
            </a:pPr>
            <a:r>
              <a:rPr lang="en-US" sz="1600" dirty="0"/>
              <a:t>Add </a:t>
            </a:r>
            <a:r>
              <a:rPr lang="en-US" sz="1600" b="1" dirty="0"/>
              <a:t>real-time sensor data </a:t>
            </a:r>
            <a:r>
              <a:rPr lang="en-US" sz="1600" dirty="0"/>
              <a:t>for real-time monitoring.</a:t>
            </a:r>
          </a:p>
          <a:p>
            <a:pPr marL="342900" indent="-342900">
              <a:buFont typeface="Arial" panose="020B0604020202020204" pitchFamily="34" charset="0"/>
              <a:buChar char="•"/>
            </a:pPr>
            <a:r>
              <a:rPr lang="en-US" sz="1600" dirty="0"/>
              <a:t>Expand the model to </a:t>
            </a:r>
            <a:r>
              <a:rPr lang="en-US" sz="1600" b="1" dirty="0"/>
              <a:t>additional locations and pollutants.</a:t>
            </a:r>
            <a:endParaRPr lang="en-US" sz="1600" dirty="0"/>
          </a:p>
          <a:p>
            <a:pPr marL="342900" indent="-342900">
              <a:buFont typeface="Arial" panose="020B0604020202020204" pitchFamily="34" charset="0"/>
              <a:buChar char="•"/>
            </a:pPr>
            <a:r>
              <a:rPr lang="en-US" sz="1600" dirty="0"/>
              <a:t>Implement a cloud deployment for </a:t>
            </a:r>
            <a:r>
              <a:rPr lang="en-US" sz="1600" b="1" dirty="0"/>
              <a:t>easy access and scalability to users.</a:t>
            </a:r>
            <a:endParaRPr lang="en-US" sz="1600" dirty="0"/>
          </a:p>
          <a:p>
            <a:pPr marL="342900" indent="-342900">
              <a:buFont typeface="Arial" panose="020B0604020202020204" pitchFamily="34" charset="0"/>
              <a:buChar char="•"/>
            </a:pPr>
            <a:r>
              <a:rPr lang="en-US" sz="1600" dirty="0"/>
              <a:t>Enable </a:t>
            </a:r>
            <a:r>
              <a:rPr lang="en-US" sz="1600" b="1" dirty="0"/>
              <a:t>alerts and recommendations </a:t>
            </a:r>
            <a:r>
              <a:rPr lang="en-US" sz="1600" dirty="0"/>
              <a:t>for pollution control.</a:t>
            </a:r>
            <a:endParaRPr lang="en-IN" sz="1600" dirty="0"/>
          </a:p>
        </p:txBody>
      </p:sp>
      <p:sp>
        <p:nvSpPr>
          <p:cNvPr id="8" name="TextBox 7">
            <a:extLst>
              <a:ext uri="{FF2B5EF4-FFF2-40B4-BE49-F238E27FC236}">
                <a16:creationId xmlns:a16="http://schemas.microsoft.com/office/drawing/2014/main" id="{9175F17C-FBD6-2740-7C7B-AFA107B0B155}"/>
              </a:ext>
            </a:extLst>
          </p:cNvPr>
          <p:cNvSpPr txBox="1"/>
          <p:nvPr/>
        </p:nvSpPr>
        <p:spPr>
          <a:xfrm>
            <a:off x="149087" y="5305823"/>
            <a:ext cx="10833652" cy="584775"/>
          </a:xfrm>
          <a:prstGeom prst="rect">
            <a:avLst/>
          </a:prstGeom>
          <a:noFill/>
        </p:spPr>
        <p:txBody>
          <a:bodyPr wrap="square" rtlCol="0">
            <a:spAutoFit/>
          </a:bodyPr>
          <a:lstStyle/>
          <a:p>
            <a:r>
              <a:rPr lang="en-IN" sz="1600" b="1" dirty="0"/>
              <a:t>GitHub Repository Link: </a:t>
            </a:r>
            <a:r>
              <a:rPr lang="en-IN" sz="1600" dirty="0">
                <a:hlinkClick r:id="rId2"/>
              </a:rPr>
              <a:t>https://github.com/DipchandriGhosh/Water_Quality_Prediction-AICTE_Edunet-Shell_Skills4Future/tree/main/AICTE-Edunet-Shell_Skill4Future_Internship_Water_Quality_Prediction</a:t>
            </a:r>
            <a:endParaRPr lang="en-IN" sz="1600" dirty="0"/>
          </a:p>
        </p:txBody>
      </p:sp>
    </p:spTree>
    <p:extLst>
      <p:ext uri="{BB962C8B-B14F-4D97-AF65-F5344CB8AC3E}">
        <p14:creationId xmlns:p14="http://schemas.microsoft.com/office/powerpoint/2010/main" val="151988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4A606-5D44-15D8-DD73-241ABB989B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285755-ABB7-92A1-416D-2EB8C94AEA86}"/>
              </a:ext>
            </a:extLst>
          </p:cNvPr>
          <p:cNvSpPr txBox="1"/>
          <p:nvPr/>
        </p:nvSpPr>
        <p:spPr>
          <a:xfrm>
            <a:off x="1891747" y="3228945"/>
            <a:ext cx="8408505" cy="707886"/>
          </a:xfrm>
          <a:prstGeom prst="rect">
            <a:avLst/>
          </a:prstGeom>
          <a:noFill/>
        </p:spPr>
        <p:txBody>
          <a:bodyPr wrap="square" rtlCol="0">
            <a:spAutoFit/>
          </a:bodyPr>
          <a:lstStyle/>
          <a:p>
            <a:pPr algn="ctr"/>
            <a:r>
              <a:rPr lang="en-IN" sz="4000" b="1" dirty="0">
                <a:solidFill>
                  <a:srgbClr val="002060"/>
                </a:solidFill>
              </a:rPr>
              <a:t>Thank You!</a:t>
            </a:r>
          </a:p>
        </p:txBody>
      </p:sp>
    </p:spTree>
    <p:extLst>
      <p:ext uri="{BB962C8B-B14F-4D97-AF65-F5344CB8AC3E}">
        <p14:creationId xmlns:p14="http://schemas.microsoft.com/office/powerpoint/2010/main" val="365114219"/>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final draft</Template>
  <TotalTime>13</TotalTime>
  <Words>800</Words>
  <Application>Microsoft Office PowerPoint</Application>
  <PresentationFormat>Widescreen</PresentationFormat>
  <Paragraphs>95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Black</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Ayan Ghosh</dc:creator>
  <cp:lastModifiedBy>Ayan Ghosh</cp:lastModifiedBy>
  <cp:revision>1</cp:revision>
  <dcterms:created xsi:type="dcterms:W3CDTF">2025-07-07T19:03:39Z</dcterms:created>
  <dcterms:modified xsi:type="dcterms:W3CDTF">2025-07-07T19:16:45Z</dcterms:modified>
</cp:coreProperties>
</file>